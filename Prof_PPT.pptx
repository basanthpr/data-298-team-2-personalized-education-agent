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210 클레이토이" charset="1" panose="02020603020101020101"/>
      <p:regular r:id="rId17"/>
    </p:embeddedFont>
    <p:embeddedFont>
      <p:font typeface="Quicksand Bold" charset="1" panose="00000000000000000000"/>
      <p:regular r:id="rId18"/>
    </p:embeddedFont>
    <p:embeddedFont>
      <p:font typeface="Quicksand Medium" charset="1" panose="00000000000000000000"/>
      <p:regular r:id="rId19"/>
    </p:embeddedFont>
    <p:embeddedFont>
      <p:font typeface="Quicksan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7.png" Type="http://schemas.openxmlformats.org/officeDocument/2006/relationships/image"/><Relationship Id="rId17" Target="../media/image11.png" Type="http://schemas.openxmlformats.org/officeDocument/2006/relationships/image"/><Relationship Id="rId18" Target="../media/image12.svg" Type="http://schemas.openxmlformats.org/officeDocument/2006/relationships/image"/><Relationship Id="rId19" Target="../media/image18.png" Type="http://schemas.openxmlformats.org/officeDocument/2006/relationships/image"/><Relationship Id="rId2" Target="../media/image3.png" Type="http://schemas.openxmlformats.org/officeDocument/2006/relationships/image"/><Relationship Id="rId20" Target="../media/image19.png" Type="http://schemas.openxmlformats.org/officeDocument/2006/relationships/image"/><Relationship Id="rId21" Target="../embeddings/oleObject1.bin" Type="http://schemas.openxmlformats.org/officeDocument/2006/relationships/oleObject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1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2.png" Type="http://schemas.openxmlformats.org/officeDocument/2006/relationships/image"/><Relationship Id="rId19" Target="../media/image33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4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5.png" Type="http://schemas.openxmlformats.org/officeDocument/2006/relationships/image"/><Relationship Id="rId19" Target="../embeddings/oleObject2.bin" Type="http://schemas.openxmlformats.org/officeDocument/2006/relationships/oleObject"/><Relationship Id="rId2" Target="../media/image20.png" Type="http://schemas.openxmlformats.org/officeDocument/2006/relationships/image"/><Relationship Id="rId20" Target="../media/image36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7.png" Type="http://schemas.openxmlformats.org/officeDocument/2006/relationships/image"/><Relationship Id="rId17" Target="../embeddings/oleObject3.bin" Type="http://schemas.openxmlformats.org/officeDocument/2006/relationships/oleObjec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7.png" Type="http://schemas.openxmlformats.org/officeDocument/2006/relationships/image"/><Relationship Id="rId17" Target="../media/image8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7.png" Type="http://schemas.openxmlformats.org/officeDocument/2006/relationships/image"/><Relationship Id="rId17" Target="../media/image8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33997" y="1885014"/>
            <a:ext cx="16077681" cy="289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8"/>
              </a:lnSpc>
            </a:pPr>
            <a:r>
              <a:rPr lang="en-US" sz="11764" spc="-588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THE PERSONALIZED EDUCATION AGENT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93888" y="7279679"/>
            <a:ext cx="13956129" cy="1522487"/>
          </a:xfrm>
          <a:custGeom>
            <a:avLst/>
            <a:gdLst/>
            <a:ahLst/>
            <a:cxnLst/>
            <a:rect r="r" b="b" t="t" l="l"/>
            <a:pathLst>
              <a:path h="1522487" w="13956129">
                <a:moveTo>
                  <a:pt x="0" y="0"/>
                </a:moveTo>
                <a:lnTo>
                  <a:pt x="13956129" y="0"/>
                </a:lnTo>
                <a:lnTo>
                  <a:pt x="13956129" y="1522487"/>
                </a:lnTo>
                <a:lnTo>
                  <a:pt x="0" y="15224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302171">
            <a:off x="6208123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8" y="0"/>
                </a:lnTo>
                <a:lnTo>
                  <a:pt x="3696358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3107383">
            <a:off x="-528765" y="-961946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897788" y="4885077"/>
            <a:ext cx="6492424" cy="61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5"/>
              </a:lnSpc>
            </a:pPr>
            <a:r>
              <a:rPr lang="en-US" sz="4750" spc="-23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WORKBOOK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56476" y="5780966"/>
            <a:ext cx="4575048" cy="44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</a:pPr>
            <a:r>
              <a:rPr lang="en-US" sz="3347" spc="-16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TEAM 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997" y="7479911"/>
            <a:ext cx="16531352" cy="110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4511" spc="-2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Basanth Periyapatna Roopa Kumar, Manav Rajesh Anandani, Nandhakumar Apparsamy, Nischitha Nagendran, Nitya Rondla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8492" y="1215489"/>
            <a:ext cx="6695646" cy="730434"/>
          </a:xfrm>
          <a:custGeom>
            <a:avLst/>
            <a:gdLst/>
            <a:ahLst/>
            <a:cxnLst/>
            <a:rect r="r" b="b" t="t" l="l"/>
            <a:pathLst>
              <a:path h="730434" w="6695646">
                <a:moveTo>
                  <a:pt x="0" y="0"/>
                </a:moveTo>
                <a:lnTo>
                  <a:pt x="6695646" y="0"/>
                </a:lnTo>
                <a:lnTo>
                  <a:pt x="6695646" y="730434"/>
                </a:lnTo>
                <a:lnTo>
                  <a:pt x="0" y="730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143568" y="1368518"/>
            <a:ext cx="10000864" cy="57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</a:pPr>
            <a:r>
              <a:rPr lang="en-US" sz="4550" spc="-2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DATA PROCESS &amp; PIPELINE SUMMARY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781020">
            <a:off x="-2589055" y="7590408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107383">
            <a:off x="-1372902" y="-1519935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6208123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8" y="0"/>
                </a:lnTo>
                <a:lnTo>
                  <a:pt x="3696358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19182" y="2289805"/>
            <a:ext cx="14830249" cy="9160715"/>
            <a:chOff x="0" y="0"/>
            <a:chExt cx="3905909" cy="2412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05909" cy="2412699"/>
            </a:xfrm>
            <a:custGeom>
              <a:avLst/>
              <a:gdLst/>
              <a:ahLst/>
              <a:cxnLst/>
              <a:rect r="r" b="b" t="t" l="l"/>
              <a:pathLst>
                <a:path h="2412699" w="3905909">
                  <a:moveTo>
                    <a:pt x="16705" y="0"/>
                  </a:moveTo>
                  <a:lnTo>
                    <a:pt x="3889204" y="0"/>
                  </a:lnTo>
                  <a:cubicBezTo>
                    <a:pt x="3898430" y="0"/>
                    <a:pt x="3905909" y="7479"/>
                    <a:pt x="3905909" y="16705"/>
                  </a:cubicBezTo>
                  <a:lnTo>
                    <a:pt x="3905909" y="2395993"/>
                  </a:lnTo>
                  <a:cubicBezTo>
                    <a:pt x="3905909" y="2405219"/>
                    <a:pt x="3898430" y="2412699"/>
                    <a:pt x="3889204" y="2412699"/>
                  </a:cubicBezTo>
                  <a:lnTo>
                    <a:pt x="16705" y="2412699"/>
                  </a:lnTo>
                  <a:cubicBezTo>
                    <a:pt x="7479" y="2412699"/>
                    <a:pt x="0" y="2405219"/>
                    <a:pt x="0" y="2395993"/>
                  </a:cubicBezTo>
                  <a:lnTo>
                    <a:pt x="0" y="16705"/>
                  </a:lnTo>
                  <a:cubicBezTo>
                    <a:pt x="0" y="7479"/>
                    <a:pt x="7479" y="0"/>
                    <a:pt x="16705" y="0"/>
                  </a:cubicBezTo>
                  <a:close/>
                </a:path>
              </a:pathLst>
            </a:custGeom>
            <a:solidFill>
              <a:srgbClr val="9EB6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05909" cy="2450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631297">
            <a:off x="15370252" y="8120924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6"/>
                </a:lnTo>
                <a:lnTo>
                  <a:pt x="0" y="3862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true" rot="3988127">
            <a:off x="-1354749" y="7544713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3"/>
                </a:moveTo>
                <a:lnTo>
                  <a:pt x="4204700" y="4438743"/>
                </a:lnTo>
                <a:lnTo>
                  <a:pt x="4204700" y="0"/>
                </a:lnTo>
                <a:lnTo>
                  <a:pt x="0" y="0"/>
                </a:lnTo>
                <a:lnTo>
                  <a:pt x="0" y="4438743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09557" y="2484626"/>
            <a:ext cx="5559032" cy="3655064"/>
          </a:xfrm>
          <a:custGeom>
            <a:avLst/>
            <a:gdLst/>
            <a:ahLst/>
            <a:cxnLst/>
            <a:rect r="r" b="b" t="t" l="l"/>
            <a:pathLst>
              <a:path h="3655064" w="5559032">
                <a:moveTo>
                  <a:pt x="0" y="0"/>
                </a:moveTo>
                <a:lnTo>
                  <a:pt x="5559032" y="0"/>
                </a:lnTo>
                <a:lnTo>
                  <a:pt x="5559032" y="3655064"/>
                </a:lnTo>
                <a:lnTo>
                  <a:pt x="0" y="365506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84346">
            <a:off x="15504155" y="-63547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2"/>
                </a:lnTo>
                <a:lnTo>
                  <a:pt x="0" y="377939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3027" y="2570471"/>
            <a:ext cx="3694147" cy="7481816"/>
          </a:xfrm>
          <a:custGeom>
            <a:avLst/>
            <a:gdLst/>
            <a:ahLst/>
            <a:cxnLst/>
            <a:rect r="r" b="b" t="t" l="l"/>
            <a:pathLst>
              <a:path h="7481816" w="3694147">
                <a:moveTo>
                  <a:pt x="0" y="0"/>
                </a:moveTo>
                <a:lnTo>
                  <a:pt x="3694147" y="0"/>
                </a:lnTo>
                <a:lnTo>
                  <a:pt x="3694147" y="7481816"/>
                </a:lnTo>
                <a:lnTo>
                  <a:pt x="0" y="7481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aphicFrame>
        <p:nvGraphicFramePr>
          <p:cNvPr name="Object 26" id="26"/>
          <p:cNvGraphicFramePr/>
          <p:nvPr/>
        </p:nvGraphicFramePr>
        <p:xfrm>
          <a:off x="5438492" y="6311379"/>
          <a:ext cx="9301162" cy="3738324"/>
        </p:xfrm>
        <a:graphic>
          <a:graphicData uri="http://schemas.openxmlformats.org/presentationml/2006/ole">
            <p:oleObj imgW="11163300" imgH="5600700" r:id="rId2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2190621" y="-2476415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1151" y="706541"/>
            <a:ext cx="9145275" cy="997666"/>
          </a:xfrm>
          <a:custGeom>
            <a:avLst/>
            <a:gdLst/>
            <a:ahLst/>
            <a:cxnLst/>
            <a:rect r="r" b="b" t="t" l="l"/>
            <a:pathLst>
              <a:path h="997666" w="9145275">
                <a:moveTo>
                  <a:pt x="0" y="0"/>
                </a:moveTo>
                <a:lnTo>
                  <a:pt x="9145275" y="0"/>
                </a:lnTo>
                <a:lnTo>
                  <a:pt x="9145275" y="997667"/>
                </a:lnTo>
                <a:lnTo>
                  <a:pt x="0" y="997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585348" y="560895"/>
            <a:ext cx="8143755" cy="7963149"/>
            <a:chOff x="0" y="0"/>
            <a:chExt cx="2144857" cy="20972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4857" cy="2097290"/>
            </a:xfrm>
            <a:custGeom>
              <a:avLst/>
              <a:gdLst/>
              <a:ahLst/>
              <a:cxnLst/>
              <a:rect r="r" b="b" t="t" l="l"/>
              <a:pathLst>
                <a:path h="2097290" w="2144857">
                  <a:moveTo>
                    <a:pt x="30421" y="0"/>
                  </a:moveTo>
                  <a:lnTo>
                    <a:pt x="2114436" y="0"/>
                  </a:lnTo>
                  <a:cubicBezTo>
                    <a:pt x="2122504" y="0"/>
                    <a:pt x="2130242" y="3205"/>
                    <a:pt x="2135947" y="8910"/>
                  </a:cubicBezTo>
                  <a:cubicBezTo>
                    <a:pt x="2141652" y="14615"/>
                    <a:pt x="2144857" y="22353"/>
                    <a:pt x="2144857" y="30421"/>
                  </a:cubicBezTo>
                  <a:lnTo>
                    <a:pt x="2144857" y="2066869"/>
                  </a:lnTo>
                  <a:cubicBezTo>
                    <a:pt x="2144857" y="2074937"/>
                    <a:pt x="2141652" y="2082675"/>
                    <a:pt x="2135947" y="2088380"/>
                  </a:cubicBezTo>
                  <a:cubicBezTo>
                    <a:pt x="2130242" y="2094085"/>
                    <a:pt x="2122504" y="2097290"/>
                    <a:pt x="2114436" y="2097290"/>
                  </a:cubicBezTo>
                  <a:lnTo>
                    <a:pt x="30421" y="2097290"/>
                  </a:lnTo>
                  <a:cubicBezTo>
                    <a:pt x="22353" y="2097290"/>
                    <a:pt x="14615" y="2094085"/>
                    <a:pt x="8910" y="2088380"/>
                  </a:cubicBezTo>
                  <a:cubicBezTo>
                    <a:pt x="3205" y="2082675"/>
                    <a:pt x="0" y="2074937"/>
                    <a:pt x="0" y="2066869"/>
                  </a:cubicBezTo>
                  <a:lnTo>
                    <a:pt x="0" y="30421"/>
                  </a:lnTo>
                  <a:cubicBezTo>
                    <a:pt x="0" y="22353"/>
                    <a:pt x="3205" y="14615"/>
                    <a:pt x="8910" y="8910"/>
                  </a:cubicBezTo>
                  <a:cubicBezTo>
                    <a:pt x="14615" y="3205"/>
                    <a:pt x="22353" y="0"/>
                    <a:pt x="3042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44857" cy="2135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70118" y="4094048"/>
            <a:ext cx="9214118" cy="3078696"/>
            <a:chOff x="0" y="0"/>
            <a:chExt cx="2426764" cy="810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26764" cy="810850"/>
            </a:xfrm>
            <a:custGeom>
              <a:avLst/>
              <a:gdLst/>
              <a:ahLst/>
              <a:cxnLst/>
              <a:rect r="r" b="b" t="t" l="l"/>
              <a:pathLst>
                <a:path h="810850" w="2426764">
                  <a:moveTo>
                    <a:pt x="21846" y="0"/>
                  </a:moveTo>
                  <a:lnTo>
                    <a:pt x="2404918" y="0"/>
                  </a:lnTo>
                  <a:cubicBezTo>
                    <a:pt x="2410712" y="0"/>
                    <a:pt x="2416268" y="2302"/>
                    <a:pt x="2420365" y="6398"/>
                  </a:cubicBezTo>
                  <a:cubicBezTo>
                    <a:pt x="2424462" y="10495"/>
                    <a:pt x="2426764" y="16052"/>
                    <a:pt x="2426764" y="21846"/>
                  </a:cubicBezTo>
                  <a:lnTo>
                    <a:pt x="2426764" y="789004"/>
                  </a:lnTo>
                  <a:cubicBezTo>
                    <a:pt x="2426764" y="794798"/>
                    <a:pt x="2424462" y="800354"/>
                    <a:pt x="2420365" y="804451"/>
                  </a:cubicBezTo>
                  <a:cubicBezTo>
                    <a:pt x="2416268" y="808548"/>
                    <a:pt x="2410712" y="810850"/>
                    <a:pt x="2404918" y="810850"/>
                  </a:cubicBezTo>
                  <a:lnTo>
                    <a:pt x="21846" y="810850"/>
                  </a:lnTo>
                  <a:cubicBezTo>
                    <a:pt x="16052" y="810850"/>
                    <a:pt x="10495" y="808548"/>
                    <a:pt x="6398" y="804451"/>
                  </a:cubicBezTo>
                  <a:cubicBezTo>
                    <a:pt x="2302" y="800354"/>
                    <a:pt x="0" y="794798"/>
                    <a:pt x="0" y="789004"/>
                  </a:cubicBezTo>
                  <a:lnTo>
                    <a:pt x="0" y="21846"/>
                  </a:lnTo>
                  <a:cubicBezTo>
                    <a:pt x="0" y="16052"/>
                    <a:pt x="2302" y="10495"/>
                    <a:pt x="6398" y="6398"/>
                  </a:cubicBezTo>
                  <a:cubicBezTo>
                    <a:pt x="10495" y="2302"/>
                    <a:pt x="16052" y="0"/>
                    <a:pt x="218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26764" cy="84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8877" y="1028700"/>
            <a:ext cx="7432801" cy="2951379"/>
            <a:chOff x="0" y="0"/>
            <a:chExt cx="1957610" cy="7773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7610" cy="777318"/>
            </a:xfrm>
            <a:custGeom>
              <a:avLst/>
              <a:gdLst/>
              <a:ahLst/>
              <a:cxnLst/>
              <a:rect r="r" b="b" t="t" l="l"/>
              <a:pathLst>
                <a:path h="777318" w="1957610">
                  <a:moveTo>
                    <a:pt x="27081" y="0"/>
                  </a:moveTo>
                  <a:lnTo>
                    <a:pt x="1930529" y="0"/>
                  </a:lnTo>
                  <a:cubicBezTo>
                    <a:pt x="1937711" y="0"/>
                    <a:pt x="1944600" y="2853"/>
                    <a:pt x="1949678" y="7932"/>
                  </a:cubicBezTo>
                  <a:cubicBezTo>
                    <a:pt x="1954757" y="13011"/>
                    <a:pt x="1957610" y="19899"/>
                    <a:pt x="1957610" y="27081"/>
                  </a:cubicBezTo>
                  <a:lnTo>
                    <a:pt x="1957610" y="750237"/>
                  </a:lnTo>
                  <a:cubicBezTo>
                    <a:pt x="1957610" y="757419"/>
                    <a:pt x="1954757" y="764307"/>
                    <a:pt x="1949678" y="769386"/>
                  </a:cubicBezTo>
                  <a:cubicBezTo>
                    <a:pt x="1944600" y="774465"/>
                    <a:pt x="1937711" y="777318"/>
                    <a:pt x="1930529" y="777318"/>
                  </a:cubicBezTo>
                  <a:lnTo>
                    <a:pt x="27081" y="777318"/>
                  </a:lnTo>
                  <a:cubicBezTo>
                    <a:pt x="12125" y="777318"/>
                    <a:pt x="0" y="765193"/>
                    <a:pt x="0" y="750237"/>
                  </a:cubicBezTo>
                  <a:lnTo>
                    <a:pt x="0" y="27081"/>
                  </a:lnTo>
                  <a:cubicBezTo>
                    <a:pt x="0" y="12125"/>
                    <a:pt x="12125" y="0"/>
                    <a:pt x="2708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957610" cy="815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8877" y="5230451"/>
            <a:ext cx="7761871" cy="3048809"/>
            <a:chOff x="0" y="0"/>
            <a:chExt cx="2044279" cy="8029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4279" cy="802979"/>
            </a:xfrm>
            <a:custGeom>
              <a:avLst/>
              <a:gdLst/>
              <a:ahLst/>
              <a:cxnLst/>
              <a:rect r="r" b="b" t="t" l="l"/>
              <a:pathLst>
                <a:path h="802979" w="2044279">
                  <a:moveTo>
                    <a:pt x="25933" y="0"/>
                  </a:moveTo>
                  <a:lnTo>
                    <a:pt x="2018346" y="0"/>
                  </a:lnTo>
                  <a:cubicBezTo>
                    <a:pt x="2025224" y="0"/>
                    <a:pt x="2031820" y="2732"/>
                    <a:pt x="2036683" y="7596"/>
                  </a:cubicBezTo>
                  <a:cubicBezTo>
                    <a:pt x="2041547" y="12459"/>
                    <a:pt x="2044279" y="19055"/>
                    <a:pt x="2044279" y="25933"/>
                  </a:cubicBezTo>
                  <a:lnTo>
                    <a:pt x="2044279" y="777045"/>
                  </a:lnTo>
                  <a:cubicBezTo>
                    <a:pt x="2044279" y="783923"/>
                    <a:pt x="2041547" y="790519"/>
                    <a:pt x="2036683" y="795383"/>
                  </a:cubicBezTo>
                  <a:cubicBezTo>
                    <a:pt x="2031820" y="800246"/>
                    <a:pt x="2025224" y="802979"/>
                    <a:pt x="2018346" y="802979"/>
                  </a:cubicBezTo>
                  <a:lnTo>
                    <a:pt x="25933" y="802979"/>
                  </a:lnTo>
                  <a:cubicBezTo>
                    <a:pt x="19055" y="802979"/>
                    <a:pt x="12459" y="800246"/>
                    <a:pt x="7596" y="795383"/>
                  </a:cubicBezTo>
                  <a:cubicBezTo>
                    <a:pt x="2732" y="790519"/>
                    <a:pt x="0" y="783923"/>
                    <a:pt x="0" y="777045"/>
                  </a:cubicBezTo>
                  <a:lnTo>
                    <a:pt x="0" y="25933"/>
                  </a:lnTo>
                  <a:cubicBezTo>
                    <a:pt x="0" y="19055"/>
                    <a:pt x="2732" y="12459"/>
                    <a:pt x="7596" y="7596"/>
                  </a:cubicBezTo>
                  <a:cubicBezTo>
                    <a:pt x="12459" y="2732"/>
                    <a:pt x="19055" y="0"/>
                    <a:pt x="2593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44279" cy="841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94869" y="690476"/>
            <a:ext cx="936092" cy="895361"/>
            <a:chOff x="0" y="0"/>
            <a:chExt cx="305396" cy="2921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76852" y="4906367"/>
            <a:ext cx="936092" cy="895361"/>
            <a:chOff x="0" y="0"/>
            <a:chExt cx="305396" cy="2921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419870" y="4212200"/>
            <a:ext cx="9474645" cy="2842393"/>
          </a:xfrm>
          <a:custGeom>
            <a:avLst/>
            <a:gdLst/>
            <a:ahLst/>
            <a:cxnLst/>
            <a:rect r="r" b="b" t="t" l="l"/>
            <a:pathLst>
              <a:path h="2842393" w="9474645">
                <a:moveTo>
                  <a:pt x="0" y="0"/>
                </a:moveTo>
                <a:lnTo>
                  <a:pt x="9474645" y="0"/>
                </a:lnTo>
                <a:lnTo>
                  <a:pt x="9474645" y="2842393"/>
                </a:lnTo>
                <a:lnTo>
                  <a:pt x="0" y="28423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959727" y="1298932"/>
            <a:ext cx="6068976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b="true" sz="2000" spc="18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plit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ting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Str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gy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(K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y F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tur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e):</a:t>
            </a:r>
            <a:r>
              <a:rPr lang="en-US" b="true" sz="2000" spc="18" strike="noStrike" u="none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Knowledge Tr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acing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(KT): Sp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lit 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nsu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 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r's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 onl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 one sub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et.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Q&amp;A/Code: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Spl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sing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str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ified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amp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ng ba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fficu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top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 to ke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trib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70% train, 15% va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idat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, 15%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0460790" y="6126284"/>
            <a:ext cx="6068976" cy="23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Risk: Sam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oss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-&gt; Mitig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ser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-level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Risk: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pea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Q&amp;A -&gt; 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itig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ila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Tempo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ral le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akage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-&gt; 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tion: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ronologic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 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4150811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94869" y="712754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76852" y="4926091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5758" y="792266"/>
            <a:ext cx="9185189" cy="94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PRE-PROCESSING, PREPARATION, AND LEAKAGE PREVENTION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35770" y="5763628"/>
            <a:ext cx="368513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Leakage Prevention Techniques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2190621" y="-2476415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1151" y="706541"/>
            <a:ext cx="9145275" cy="997666"/>
          </a:xfrm>
          <a:custGeom>
            <a:avLst/>
            <a:gdLst/>
            <a:ahLst/>
            <a:cxnLst/>
            <a:rect r="r" b="b" t="t" l="l"/>
            <a:pathLst>
              <a:path h="997666" w="9145275">
                <a:moveTo>
                  <a:pt x="0" y="0"/>
                </a:moveTo>
                <a:lnTo>
                  <a:pt x="9145275" y="0"/>
                </a:lnTo>
                <a:lnTo>
                  <a:pt x="9145275" y="997667"/>
                </a:lnTo>
                <a:lnTo>
                  <a:pt x="0" y="997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585348" y="0"/>
            <a:ext cx="8143755" cy="8748258"/>
            <a:chOff x="0" y="0"/>
            <a:chExt cx="2144857" cy="23040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4857" cy="2304068"/>
            </a:xfrm>
            <a:custGeom>
              <a:avLst/>
              <a:gdLst/>
              <a:ahLst/>
              <a:cxnLst/>
              <a:rect r="r" b="b" t="t" l="l"/>
              <a:pathLst>
                <a:path h="2304068" w="2144857">
                  <a:moveTo>
                    <a:pt x="30421" y="0"/>
                  </a:moveTo>
                  <a:lnTo>
                    <a:pt x="2114436" y="0"/>
                  </a:lnTo>
                  <a:cubicBezTo>
                    <a:pt x="2122504" y="0"/>
                    <a:pt x="2130242" y="3205"/>
                    <a:pt x="2135947" y="8910"/>
                  </a:cubicBezTo>
                  <a:cubicBezTo>
                    <a:pt x="2141652" y="14615"/>
                    <a:pt x="2144857" y="22353"/>
                    <a:pt x="2144857" y="30421"/>
                  </a:cubicBezTo>
                  <a:lnTo>
                    <a:pt x="2144857" y="2273647"/>
                  </a:lnTo>
                  <a:cubicBezTo>
                    <a:pt x="2144857" y="2281715"/>
                    <a:pt x="2141652" y="2289453"/>
                    <a:pt x="2135947" y="2295158"/>
                  </a:cubicBezTo>
                  <a:cubicBezTo>
                    <a:pt x="2130242" y="2300863"/>
                    <a:pt x="2122504" y="2304068"/>
                    <a:pt x="2114436" y="2304068"/>
                  </a:cubicBezTo>
                  <a:lnTo>
                    <a:pt x="30421" y="2304068"/>
                  </a:lnTo>
                  <a:cubicBezTo>
                    <a:pt x="22353" y="2304068"/>
                    <a:pt x="14615" y="2300863"/>
                    <a:pt x="8910" y="2295158"/>
                  </a:cubicBezTo>
                  <a:cubicBezTo>
                    <a:pt x="3205" y="2289453"/>
                    <a:pt x="0" y="2281715"/>
                    <a:pt x="0" y="2273647"/>
                  </a:cubicBezTo>
                  <a:lnTo>
                    <a:pt x="0" y="30421"/>
                  </a:lnTo>
                  <a:cubicBezTo>
                    <a:pt x="0" y="22353"/>
                    <a:pt x="3205" y="14615"/>
                    <a:pt x="8910" y="8910"/>
                  </a:cubicBezTo>
                  <a:cubicBezTo>
                    <a:pt x="14615" y="3205"/>
                    <a:pt x="22353" y="0"/>
                    <a:pt x="3042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44857" cy="2342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41146" y="2029661"/>
            <a:ext cx="9214118" cy="3859083"/>
            <a:chOff x="0" y="0"/>
            <a:chExt cx="2426764" cy="10163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26764" cy="1016384"/>
            </a:xfrm>
            <a:custGeom>
              <a:avLst/>
              <a:gdLst/>
              <a:ahLst/>
              <a:cxnLst/>
              <a:rect r="r" b="b" t="t" l="l"/>
              <a:pathLst>
                <a:path h="1016384" w="2426764">
                  <a:moveTo>
                    <a:pt x="21846" y="0"/>
                  </a:moveTo>
                  <a:lnTo>
                    <a:pt x="2404918" y="0"/>
                  </a:lnTo>
                  <a:cubicBezTo>
                    <a:pt x="2410712" y="0"/>
                    <a:pt x="2416268" y="2302"/>
                    <a:pt x="2420365" y="6398"/>
                  </a:cubicBezTo>
                  <a:cubicBezTo>
                    <a:pt x="2424462" y="10495"/>
                    <a:pt x="2426764" y="16052"/>
                    <a:pt x="2426764" y="21846"/>
                  </a:cubicBezTo>
                  <a:lnTo>
                    <a:pt x="2426764" y="994538"/>
                  </a:lnTo>
                  <a:cubicBezTo>
                    <a:pt x="2426764" y="1000332"/>
                    <a:pt x="2424462" y="1005889"/>
                    <a:pt x="2420365" y="1009985"/>
                  </a:cubicBezTo>
                  <a:cubicBezTo>
                    <a:pt x="2416268" y="1014082"/>
                    <a:pt x="2410712" y="1016384"/>
                    <a:pt x="2404918" y="1016384"/>
                  </a:cubicBezTo>
                  <a:lnTo>
                    <a:pt x="21846" y="1016384"/>
                  </a:lnTo>
                  <a:cubicBezTo>
                    <a:pt x="16052" y="1016384"/>
                    <a:pt x="10495" y="1014082"/>
                    <a:pt x="6398" y="1009985"/>
                  </a:cubicBezTo>
                  <a:cubicBezTo>
                    <a:pt x="2302" y="1005889"/>
                    <a:pt x="0" y="1000332"/>
                    <a:pt x="0" y="994538"/>
                  </a:cubicBezTo>
                  <a:lnTo>
                    <a:pt x="0" y="21846"/>
                  </a:lnTo>
                  <a:cubicBezTo>
                    <a:pt x="0" y="16052"/>
                    <a:pt x="2302" y="10495"/>
                    <a:pt x="6398" y="6398"/>
                  </a:cubicBezTo>
                  <a:cubicBezTo>
                    <a:pt x="10495" y="2302"/>
                    <a:pt x="16052" y="0"/>
                    <a:pt x="218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26764" cy="1054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31286" y="110147"/>
            <a:ext cx="7809462" cy="3487105"/>
            <a:chOff x="0" y="0"/>
            <a:chExt cx="2056813" cy="9184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6813" cy="918414"/>
            </a:xfrm>
            <a:custGeom>
              <a:avLst/>
              <a:gdLst/>
              <a:ahLst/>
              <a:cxnLst/>
              <a:rect r="r" b="b" t="t" l="l"/>
              <a:pathLst>
                <a:path h="918414" w="2056813">
                  <a:moveTo>
                    <a:pt x="25775" y="0"/>
                  </a:moveTo>
                  <a:lnTo>
                    <a:pt x="2031038" y="0"/>
                  </a:lnTo>
                  <a:cubicBezTo>
                    <a:pt x="2037874" y="0"/>
                    <a:pt x="2044430" y="2716"/>
                    <a:pt x="2049264" y="7549"/>
                  </a:cubicBezTo>
                  <a:cubicBezTo>
                    <a:pt x="2054097" y="12383"/>
                    <a:pt x="2056813" y="18939"/>
                    <a:pt x="2056813" y="25775"/>
                  </a:cubicBezTo>
                  <a:lnTo>
                    <a:pt x="2056813" y="892639"/>
                  </a:lnTo>
                  <a:cubicBezTo>
                    <a:pt x="2056813" y="906874"/>
                    <a:pt x="2045273" y="918414"/>
                    <a:pt x="2031038" y="918414"/>
                  </a:cubicBezTo>
                  <a:lnTo>
                    <a:pt x="25775" y="918414"/>
                  </a:lnTo>
                  <a:cubicBezTo>
                    <a:pt x="18939" y="918414"/>
                    <a:pt x="12383" y="915699"/>
                    <a:pt x="7549" y="910865"/>
                  </a:cubicBezTo>
                  <a:cubicBezTo>
                    <a:pt x="2716" y="906031"/>
                    <a:pt x="0" y="899475"/>
                    <a:pt x="0" y="892639"/>
                  </a:cubicBezTo>
                  <a:lnTo>
                    <a:pt x="0" y="25775"/>
                  </a:lnTo>
                  <a:cubicBezTo>
                    <a:pt x="0" y="18939"/>
                    <a:pt x="2716" y="12383"/>
                    <a:pt x="7549" y="7549"/>
                  </a:cubicBezTo>
                  <a:cubicBezTo>
                    <a:pt x="12383" y="2716"/>
                    <a:pt x="18939" y="0"/>
                    <a:pt x="2577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56813" cy="956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31286" y="4782542"/>
            <a:ext cx="7809462" cy="3741502"/>
            <a:chOff x="0" y="0"/>
            <a:chExt cx="2056813" cy="9854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56813" cy="985416"/>
            </a:xfrm>
            <a:custGeom>
              <a:avLst/>
              <a:gdLst/>
              <a:ahLst/>
              <a:cxnLst/>
              <a:rect r="r" b="b" t="t" l="l"/>
              <a:pathLst>
                <a:path h="985416" w="2056813">
                  <a:moveTo>
                    <a:pt x="25775" y="0"/>
                  </a:moveTo>
                  <a:lnTo>
                    <a:pt x="2031038" y="0"/>
                  </a:lnTo>
                  <a:cubicBezTo>
                    <a:pt x="2037874" y="0"/>
                    <a:pt x="2044430" y="2716"/>
                    <a:pt x="2049264" y="7549"/>
                  </a:cubicBezTo>
                  <a:cubicBezTo>
                    <a:pt x="2054097" y="12383"/>
                    <a:pt x="2056813" y="18939"/>
                    <a:pt x="2056813" y="25775"/>
                  </a:cubicBezTo>
                  <a:lnTo>
                    <a:pt x="2056813" y="959641"/>
                  </a:lnTo>
                  <a:cubicBezTo>
                    <a:pt x="2056813" y="973876"/>
                    <a:pt x="2045273" y="985416"/>
                    <a:pt x="2031038" y="985416"/>
                  </a:cubicBezTo>
                  <a:lnTo>
                    <a:pt x="25775" y="985416"/>
                  </a:lnTo>
                  <a:cubicBezTo>
                    <a:pt x="18939" y="985416"/>
                    <a:pt x="12383" y="982701"/>
                    <a:pt x="7549" y="977867"/>
                  </a:cubicBezTo>
                  <a:cubicBezTo>
                    <a:pt x="2716" y="973033"/>
                    <a:pt x="0" y="966477"/>
                    <a:pt x="0" y="959641"/>
                  </a:cubicBezTo>
                  <a:lnTo>
                    <a:pt x="0" y="25775"/>
                  </a:lnTo>
                  <a:cubicBezTo>
                    <a:pt x="0" y="18939"/>
                    <a:pt x="2716" y="12383"/>
                    <a:pt x="7549" y="7549"/>
                  </a:cubicBezTo>
                  <a:cubicBezTo>
                    <a:pt x="12383" y="2716"/>
                    <a:pt x="18939" y="0"/>
                    <a:pt x="2577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56813" cy="10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-150045" y="5817561"/>
            <a:ext cx="9735393" cy="693647"/>
          </a:xfrm>
          <a:custGeom>
            <a:avLst/>
            <a:gdLst/>
            <a:ahLst/>
            <a:cxnLst/>
            <a:rect r="r" b="b" t="t" l="l"/>
            <a:pathLst>
              <a:path h="693647" w="9735393">
                <a:moveTo>
                  <a:pt x="0" y="0"/>
                </a:moveTo>
                <a:lnTo>
                  <a:pt x="9735393" y="0"/>
                </a:lnTo>
                <a:lnTo>
                  <a:pt x="9735393" y="693647"/>
                </a:lnTo>
                <a:lnTo>
                  <a:pt x="0" y="69364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27028" y="321777"/>
            <a:ext cx="6984650" cy="342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el 2: 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ee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Knowledge Tracing (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KT)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Concept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Ex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tends BKT us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ing LSTMs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to learn non-linear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, lo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ng-ter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tempora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dependenci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s in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lear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ne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eq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ence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Fe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ures: Enc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ode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eque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ce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of: us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_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id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kc_tag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s_correct, difficulty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_sc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le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d,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ponse_ti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Algorithm: Embed KCs and outcomes into latent space. → Feed sequentially to LSTM. → Predict next-step probability of correctness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902801" y="4868267"/>
            <a:ext cx="7542639" cy="376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Model 3: Dynamic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Key-Value Memo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Network (DKVM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oncept: Uses a memory-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augm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net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 to model knowled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ge.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"Key"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ix holds concepts, and a "Value" matri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x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holds mastery states, up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ia atten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tion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Algorithm: At each step, the model computes attention over KCs (keys). → Updates mastery in the corresponding value memory slot. → Predicts correctness on the next attempt.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Features: Learner sequences, KC embedding, difficulty, and response correctness.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66809" y="1038592"/>
            <a:ext cx="9185189" cy="94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M</a:t>
            </a: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ODEL PROPOSALS (1/2) - BASELINES</a:t>
            </a:r>
          </a:p>
          <a:p>
            <a:pPr algn="ctr">
              <a:lnSpc>
                <a:spcPts val="3575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0" y="2244747"/>
            <a:ext cx="8787384" cy="376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Model 1: Bay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esia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 Kn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edge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(BKT)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oncept: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 ba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sel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pro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bab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ilis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model that treat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student ma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tery as a hidden binary variable (k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nown/unknown)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 It's a simp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le, inte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rpretable Hidden Ma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ov Mod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(HMM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ures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user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_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d, 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_t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ag,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orrectn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ess_seq (0/1)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Algorithm:</a:t>
            </a:r>
          </a:p>
          <a:p>
            <a:pPr algn="l" marL="431801" indent="-215900" lvl="1">
              <a:lnSpc>
                <a:spcPts val="2720"/>
              </a:lnSpc>
              <a:buAutoNum type="arabicPeriod" startAt="1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Hidden Markov Model (HMM)-based.</a:t>
            </a:r>
          </a:p>
          <a:p>
            <a:pPr algn="l" marL="431801" indent="-215900" lvl="1">
              <a:lnSpc>
                <a:spcPts val="2720"/>
              </a:lnSpc>
              <a:buAutoNum type="arabicPeriod" startAt="1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For each KC, parameters are estimated via Expectation-Maximization (EM).</a:t>
            </a:r>
          </a:p>
          <a:p>
            <a:pPr algn="l" marL="431801" indent="-215900" lvl="1">
              <a:lnSpc>
                <a:spcPts val="2720"/>
              </a:lnSpc>
              <a:buAutoNum type="arabicPeriod" startAt="1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Posterior mastery probability updated after every attempt.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2190621" y="-2476415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1151" y="706541"/>
            <a:ext cx="9145275" cy="997666"/>
          </a:xfrm>
          <a:custGeom>
            <a:avLst/>
            <a:gdLst/>
            <a:ahLst/>
            <a:cxnLst/>
            <a:rect r="r" b="b" t="t" l="l"/>
            <a:pathLst>
              <a:path h="997666" w="9145275">
                <a:moveTo>
                  <a:pt x="0" y="0"/>
                </a:moveTo>
                <a:lnTo>
                  <a:pt x="9145275" y="0"/>
                </a:lnTo>
                <a:lnTo>
                  <a:pt x="9145275" y="997667"/>
                </a:lnTo>
                <a:lnTo>
                  <a:pt x="0" y="997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585348" y="1891484"/>
            <a:ext cx="8102617" cy="5918818"/>
            <a:chOff x="0" y="0"/>
            <a:chExt cx="2134022" cy="15588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4022" cy="1558866"/>
            </a:xfrm>
            <a:custGeom>
              <a:avLst/>
              <a:gdLst/>
              <a:ahLst/>
              <a:cxnLst/>
              <a:rect r="r" b="b" t="t" l="l"/>
              <a:pathLst>
                <a:path h="1558866" w="2134022">
                  <a:moveTo>
                    <a:pt x="30575" y="0"/>
                  </a:moveTo>
                  <a:lnTo>
                    <a:pt x="2103447" y="0"/>
                  </a:lnTo>
                  <a:cubicBezTo>
                    <a:pt x="2120333" y="0"/>
                    <a:pt x="2134022" y="13689"/>
                    <a:pt x="2134022" y="30575"/>
                  </a:cubicBezTo>
                  <a:lnTo>
                    <a:pt x="2134022" y="1528290"/>
                  </a:lnTo>
                  <a:cubicBezTo>
                    <a:pt x="2134022" y="1545177"/>
                    <a:pt x="2120333" y="1558866"/>
                    <a:pt x="2103447" y="1558866"/>
                  </a:cubicBezTo>
                  <a:lnTo>
                    <a:pt x="30575" y="1558866"/>
                  </a:lnTo>
                  <a:cubicBezTo>
                    <a:pt x="13689" y="1558866"/>
                    <a:pt x="0" y="1545177"/>
                    <a:pt x="0" y="1528290"/>
                  </a:cubicBezTo>
                  <a:lnTo>
                    <a:pt x="0" y="30575"/>
                  </a:lnTo>
                  <a:cubicBezTo>
                    <a:pt x="0" y="13689"/>
                    <a:pt x="13689" y="0"/>
                    <a:pt x="30575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34022" cy="159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41146" y="1704208"/>
            <a:ext cx="9214118" cy="4184536"/>
            <a:chOff x="0" y="0"/>
            <a:chExt cx="2426764" cy="1102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26764" cy="1102100"/>
            </a:xfrm>
            <a:custGeom>
              <a:avLst/>
              <a:gdLst/>
              <a:ahLst/>
              <a:cxnLst/>
              <a:rect r="r" b="b" t="t" l="l"/>
              <a:pathLst>
                <a:path h="1102100" w="2426764">
                  <a:moveTo>
                    <a:pt x="21846" y="0"/>
                  </a:moveTo>
                  <a:lnTo>
                    <a:pt x="2404918" y="0"/>
                  </a:lnTo>
                  <a:cubicBezTo>
                    <a:pt x="2410712" y="0"/>
                    <a:pt x="2416268" y="2302"/>
                    <a:pt x="2420365" y="6398"/>
                  </a:cubicBezTo>
                  <a:cubicBezTo>
                    <a:pt x="2424462" y="10495"/>
                    <a:pt x="2426764" y="16052"/>
                    <a:pt x="2426764" y="21846"/>
                  </a:cubicBezTo>
                  <a:lnTo>
                    <a:pt x="2426764" y="1080254"/>
                  </a:lnTo>
                  <a:cubicBezTo>
                    <a:pt x="2426764" y="1086048"/>
                    <a:pt x="2424462" y="1091605"/>
                    <a:pt x="2420365" y="1095702"/>
                  </a:cubicBezTo>
                  <a:cubicBezTo>
                    <a:pt x="2416268" y="1099798"/>
                    <a:pt x="2410712" y="1102100"/>
                    <a:pt x="2404918" y="1102100"/>
                  </a:cubicBezTo>
                  <a:lnTo>
                    <a:pt x="21846" y="1102100"/>
                  </a:lnTo>
                  <a:cubicBezTo>
                    <a:pt x="16052" y="1102100"/>
                    <a:pt x="10495" y="1099798"/>
                    <a:pt x="6398" y="1095702"/>
                  </a:cubicBezTo>
                  <a:cubicBezTo>
                    <a:pt x="2302" y="1091605"/>
                    <a:pt x="0" y="1086048"/>
                    <a:pt x="0" y="1080254"/>
                  </a:cubicBezTo>
                  <a:lnTo>
                    <a:pt x="0" y="21846"/>
                  </a:lnTo>
                  <a:cubicBezTo>
                    <a:pt x="0" y="16052"/>
                    <a:pt x="2302" y="10495"/>
                    <a:pt x="6398" y="6398"/>
                  </a:cubicBezTo>
                  <a:cubicBezTo>
                    <a:pt x="10495" y="2302"/>
                    <a:pt x="16052" y="0"/>
                    <a:pt x="218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26764" cy="114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14622" y="2054057"/>
            <a:ext cx="7809462" cy="5547372"/>
            <a:chOff x="0" y="0"/>
            <a:chExt cx="2056813" cy="14610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6813" cy="1461036"/>
            </a:xfrm>
            <a:custGeom>
              <a:avLst/>
              <a:gdLst/>
              <a:ahLst/>
              <a:cxnLst/>
              <a:rect r="r" b="b" t="t" l="l"/>
              <a:pathLst>
                <a:path h="1461036" w="2056813">
                  <a:moveTo>
                    <a:pt x="25775" y="0"/>
                  </a:moveTo>
                  <a:lnTo>
                    <a:pt x="2031038" y="0"/>
                  </a:lnTo>
                  <a:cubicBezTo>
                    <a:pt x="2037874" y="0"/>
                    <a:pt x="2044430" y="2716"/>
                    <a:pt x="2049264" y="7549"/>
                  </a:cubicBezTo>
                  <a:cubicBezTo>
                    <a:pt x="2054097" y="12383"/>
                    <a:pt x="2056813" y="18939"/>
                    <a:pt x="2056813" y="25775"/>
                  </a:cubicBezTo>
                  <a:lnTo>
                    <a:pt x="2056813" y="1435261"/>
                  </a:lnTo>
                  <a:cubicBezTo>
                    <a:pt x="2056813" y="1449496"/>
                    <a:pt x="2045273" y="1461036"/>
                    <a:pt x="2031038" y="1461036"/>
                  </a:cubicBezTo>
                  <a:lnTo>
                    <a:pt x="25775" y="1461036"/>
                  </a:lnTo>
                  <a:cubicBezTo>
                    <a:pt x="18939" y="1461036"/>
                    <a:pt x="12383" y="1458321"/>
                    <a:pt x="7549" y="1453487"/>
                  </a:cubicBezTo>
                  <a:cubicBezTo>
                    <a:pt x="2716" y="1448653"/>
                    <a:pt x="0" y="1442097"/>
                    <a:pt x="0" y="1435261"/>
                  </a:cubicBezTo>
                  <a:lnTo>
                    <a:pt x="0" y="25775"/>
                  </a:lnTo>
                  <a:cubicBezTo>
                    <a:pt x="0" y="18939"/>
                    <a:pt x="2716" y="12383"/>
                    <a:pt x="7549" y="7549"/>
                  </a:cubicBezTo>
                  <a:cubicBezTo>
                    <a:pt x="12383" y="2716"/>
                    <a:pt x="18939" y="0"/>
                    <a:pt x="2577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56813" cy="1499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-6701" y="5934653"/>
            <a:ext cx="9513127" cy="1224815"/>
          </a:xfrm>
          <a:custGeom>
            <a:avLst/>
            <a:gdLst/>
            <a:ahLst/>
            <a:cxnLst/>
            <a:rect r="r" b="b" t="t" l="l"/>
            <a:pathLst>
              <a:path h="1224815" w="9513127">
                <a:moveTo>
                  <a:pt x="0" y="0"/>
                </a:moveTo>
                <a:lnTo>
                  <a:pt x="9513127" y="0"/>
                </a:lnTo>
                <a:lnTo>
                  <a:pt x="9513127" y="1224815"/>
                </a:lnTo>
                <a:lnTo>
                  <a:pt x="0" y="12248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386706" y="7916370"/>
            <a:ext cx="11301259" cy="1327898"/>
          </a:xfrm>
          <a:custGeom>
            <a:avLst/>
            <a:gdLst/>
            <a:ahLst/>
            <a:cxnLst/>
            <a:rect r="r" b="b" t="t" l="l"/>
            <a:pathLst>
              <a:path h="1327898" w="11301259">
                <a:moveTo>
                  <a:pt x="0" y="0"/>
                </a:moveTo>
                <a:lnTo>
                  <a:pt x="11301259" y="0"/>
                </a:lnTo>
                <a:lnTo>
                  <a:pt x="11301259" y="1327898"/>
                </a:lnTo>
                <a:lnTo>
                  <a:pt x="0" y="13278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27028" y="2410659"/>
            <a:ext cx="6984650" cy="616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</a:t>
            </a: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el 5: Hybrid LLM-KT (Innovative)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Concept: Fuses the Transformer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(SAKT)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 model with se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antic un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ers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ta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nd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ng from an LLM. 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Augments features with textual embeddings of the question content.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Features Used: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[kc_tag, question_text_embedding, response_time, difficulty_scaled, correctness, hint_usage_rate].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99817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Algorithm</a:t>
            </a: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Extract semantic embeddings from question text using a pretrained LLM.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Fuse these embeddings with structured features in the transformer encoder.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998178"/>
                </a:solidFill>
                <a:latin typeface="Quicksand"/>
                <a:ea typeface="Quicksand"/>
                <a:cs typeface="Quicksand"/>
                <a:sym typeface="Quicksand"/>
              </a:rPr>
              <a:t>Predict both probability of correctness and generate short textual rationale.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</a:p>
          <a:p>
            <a:pPr algn="l">
              <a:lnSpc>
                <a:spcPts val="27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266809" y="1038592"/>
            <a:ext cx="9185189" cy="94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M</a:t>
            </a: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ODEL PROPOSALS (2/2) - BASELINES</a:t>
            </a:r>
          </a:p>
          <a:p>
            <a:pPr algn="ctr">
              <a:lnSpc>
                <a:spcPts val="3575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2221" y="1751832"/>
            <a:ext cx="8787384" cy="479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Model 4: Tran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sforme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r-Bas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KT (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SAKT/A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KT)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Concept: Replaces RNNs with self-attention to e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ffic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ntly model long seq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ences and contextual interactions between all past attempts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Features Used: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Encoded sequence of interactions with positional embeddings.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Features: [is_correct, difficulty_scaled, response_time, hint_usage_rate].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Algorithm: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Each interaction attends to previous interactions weighted by relevance.</a:t>
            </a: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Context vectors aggregate the influence of past attempts dynamically.</a:t>
            </a:r>
          </a:p>
          <a:p>
            <a:pPr algn="l">
              <a:lnSpc>
                <a:spcPts val="2720"/>
              </a:lnSpc>
            </a:pP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1604021" y="-2270324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5" y="0"/>
                </a:lnTo>
                <a:lnTo>
                  <a:pt x="4241005" y="4459948"/>
                </a:lnTo>
                <a:lnTo>
                  <a:pt x="0" y="445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614803" y="3917599"/>
            <a:ext cx="7108904" cy="2902094"/>
            <a:chOff x="0" y="0"/>
            <a:chExt cx="1872304" cy="7643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72304" cy="764338"/>
            </a:xfrm>
            <a:custGeom>
              <a:avLst/>
              <a:gdLst/>
              <a:ahLst/>
              <a:cxnLst/>
              <a:rect r="r" b="b" t="t" l="l"/>
              <a:pathLst>
                <a:path h="764338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736022"/>
                  </a:lnTo>
                  <a:cubicBezTo>
                    <a:pt x="1872304" y="751660"/>
                    <a:pt x="1859627" y="764338"/>
                    <a:pt x="1843989" y="764338"/>
                  </a:cubicBezTo>
                  <a:lnTo>
                    <a:pt x="28315" y="764338"/>
                  </a:lnTo>
                  <a:cubicBezTo>
                    <a:pt x="12677" y="764338"/>
                    <a:pt x="0" y="751660"/>
                    <a:pt x="0" y="736022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72304" cy="80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164955" y="2356227"/>
            <a:ext cx="4160994" cy="6241491"/>
          </a:xfrm>
          <a:custGeom>
            <a:avLst/>
            <a:gdLst/>
            <a:ahLst/>
            <a:cxnLst/>
            <a:rect r="r" b="b" t="t" l="l"/>
            <a:pathLst>
              <a:path h="6241491" w="4160994">
                <a:moveTo>
                  <a:pt x="0" y="0"/>
                </a:moveTo>
                <a:lnTo>
                  <a:pt x="4160994" y="0"/>
                </a:lnTo>
                <a:lnTo>
                  <a:pt x="4160994" y="6241491"/>
                </a:lnTo>
                <a:lnTo>
                  <a:pt x="0" y="624149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326779" y="1101070"/>
            <a:ext cx="8154053" cy="137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5486" spc="-274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MODEL ARCHITECTURE LANDSCAPE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34767" y="4665066"/>
            <a:ext cx="6068976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sing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agr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ifully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ze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ssion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of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ll 5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mode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ls,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from 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simp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HMM (BKT)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co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ex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Hybr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id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LLM-KT,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how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how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 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la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2190621" y="-2476415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61151" y="706541"/>
            <a:ext cx="9145275" cy="997666"/>
          </a:xfrm>
          <a:custGeom>
            <a:avLst/>
            <a:gdLst/>
            <a:ahLst/>
            <a:cxnLst/>
            <a:rect r="r" b="b" t="t" l="l"/>
            <a:pathLst>
              <a:path h="997666" w="9145275">
                <a:moveTo>
                  <a:pt x="0" y="0"/>
                </a:moveTo>
                <a:lnTo>
                  <a:pt x="9145275" y="0"/>
                </a:lnTo>
                <a:lnTo>
                  <a:pt x="9145275" y="997667"/>
                </a:lnTo>
                <a:lnTo>
                  <a:pt x="0" y="997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0" id="20"/>
          <p:cNvGraphicFramePr/>
          <p:nvPr/>
        </p:nvGraphicFramePr>
        <p:xfrm>
          <a:off x="1591738" y="2529943"/>
          <a:ext cx="8915400" cy="6643545"/>
        </p:xfrm>
        <a:graphic>
          <a:graphicData uri="http://schemas.openxmlformats.org/presentationml/2006/ole">
            <p:oleObj imgW="10693400" imgH="8420100" r:id="rId1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1601635" y="2448759"/>
            <a:ext cx="3086077" cy="6724728"/>
          </a:xfrm>
          <a:custGeom>
            <a:avLst/>
            <a:gdLst/>
            <a:ahLst/>
            <a:cxnLst/>
            <a:rect r="r" b="b" t="t" l="l"/>
            <a:pathLst>
              <a:path h="6724728" w="3086077">
                <a:moveTo>
                  <a:pt x="0" y="0"/>
                </a:moveTo>
                <a:lnTo>
                  <a:pt x="3086076" y="0"/>
                </a:lnTo>
                <a:lnTo>
                  <a:pt x="3086076" y="6724728"/>
                </a:lnTo>
                <a:lnTo>
                  <a:pt x="0" y="67247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6809" y="1038592"/>
            <a:ext cx="9185189" cy="49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M</a:t>
            </a:r>
            <a:r>
              <a:rPr lang="en-US" sz="3804" spc="-1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210 클레이토이"/>
                <a:ea typeface="210 클레이토이"/>
                <a:cs typeface="210 클레이토이"/>
                <a:sym typeface="210 클레이토이"/>
              </a:rPr>
              <a:t>ODEL SUPPORTS (PLATFORM &amp; TOOLS)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1738" y="1996907"/>
            <a:ext cx="434685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Development Environment: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1247" y="1996907"/>
            <a:ext cx="434685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ML Data 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B6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107383">
            <a:off x="-1604021" y="-2270324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5" y="0"/>
                </a:lnTo>
                <a:lnTo>
                  <a:pt x="4241005" y="4459948"/>
                </a:lnTo>
                <a:lnTo>
                  <a:pt x="0" y="4459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9" id="19"/>
          <p:cNvGraphicFramePr/>
          <p:nvPr/>
        </p:nvGraphicFramePr>
        <p:xfrm>
          <a:off x="2791402" y="2885557"/>
          <a:ext cx="7543800" cy="3771900"/>
        </p:xfrm>
        <a:graphic>
          <a:graphicData uri="http://schemas.openxmlformats.org/presentationml/2006/ole">
            <p:oleObj imgW="9042400" imgH="5270500" r:id="rId1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3580310" y="1101070"/>
            <a:ext cx="9900522" cy="137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5486" spc="-274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MODEL COMPARISON: STRENGTHS, LIMITATIONS &amp; USE CASES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539" y="1267053"/>
            <a:ext cx="8014498" cy="874309"/>
          </a:xfrm>
          <a:custGeom>
            <a:avLst/>
            <a:gdLst/>
            <a:ahLst/>
            <a:cxnLst/>
            <a:rect r="r" b="b" t="t" l="l"/>
            <a:pathLst>
              <a:path h="874309" w="8014498">
                <a:moveTo>
                  <a:pt x="0" y="0"/>
                </a:moveTo>
                <a:lnTo>
                  <a:pt x="8014499" y="0"/>
                </a:lnTo>
                <a:lnTo>
                  <a:pt x="8014499" y="874309"/>
                </a:lnTo>
                <a:lnTo>
                  <a:pt x="0" y="874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3107383">
            <a:off x="-1604021" y="-2270324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5" y="0"/>
                </a:lnTo>
                <a:lnTo>
                  <a:pt x="4241005" y="4459948"/>
                </a:lnTo>
                <a:lnTo>
                  <a:pt x="0" y="445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6481" y="1387857"/>
            <a:ext cx="9182308" cy="85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6"/>
              </a:lnSpc>
            </a:pPr>
            <a:r>
              <a:rPr lang="en-US" sz="6698" spc="-334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MODEL JUSTIFICATION</a:t>
            </a:r>
          </a:p>
        </p:txBody>
      </p:sp>
      <p:sp>
        <p:nvSpPr>
          <p:cNvPr name="Freeform 19" id="19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1016112" y="3980079"/>
            <a:ext cx="8314835" cy="4768179"/>
            <a:chOff x="0" y="0"/>
            <a:chExt cx="2189915" cy="12558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9915" cy="1255817"/>
            </a:xfrm>
            <a:custGeom>
              <a:avLst/>
              <a:gdLst/>
              <a:ahLst/>
              <a:cxnLst/>
              <a:rect r="r" b="b" t="t" l="l"/>
              <a:pathLst>
                <a:path h="1255817" w="2189915">
                  <a:moveTo>
                    <a:pt x="29795" y="0"/>
                  </a:moveTo>
                  <a:lnTo>
                    <a:pt x="2160120" y="0"/>
                  </a:lnTo>
                  <a:cubicBezTo>
                    <a:pt x="2168022" y="0"/>
                    <a:pt x="2175601" y="3139"/>
                    <a:pt x="2181189" y="8727"/>
                  </a:cubicBezTo>
                  <a:cubicBezTo>
                    <a:pt x="2186776" y="14314"/>
                    <a:pt x="2189915" y="21893"/>
                    <a:pt x="2189915" y="29795"/>
                  </a:cubicBezTo>
                  <a:lnTo>
                    <a:pt x="2189915" y="1226022"/>
                  </a:lnTo>
                  <a:cubicBezTo>
                    <a:pt x="2189915" y="1233924"/>
                    <a:pt x="2186776" y="1241502"/>
                    <a:pt x="2181189" y="1247090"/>
                  </a:cubicBezTo>
                  <a:cubicBezTo>
                    <a:pt x="2175601" y="1252678"/>
                    <a:pt x="2168022" y="1255817"/>
                    <a:pt x="2160120" y="1255817"/>
                  </a:cubicBezTo>
                  <a:lnTo>
                    <a:pt x="29795" y="1255817"/>
                  </a:lnTo>
                  <a:cubicBezTo>
                    <a:pt x="21893" y="1255817"/>
                    <a:pt x="14314" y="1252678"/>
                    <a:pt x="8727" y="1247090"/>
                  </a:cubicBezTo>
                  <a:cubicBezTo>
                    <a:pt x="3139" y="1241502"/>
                    <a:pt x="0" y="1233924"/>
                    <a:pt x="0" y="1226022"/>
                  </a:cubicBezTo>
                  <a:lnTo>
                    <a:pt x="0" y="29795"/>
                  </a:lnTo>
                  <a:cubicBezTo>
                    <a:pt x="0" y="21893"/>
                    <a:pt x="3139" y="14314"/>
                    <a:pt x="8727" y="8727"/>
                  </a:cubicBezTo>
                  <a:cubicBezTo>
                    <a:pt x="14314" y="3139"/>
                    <a:pt x="21893" y="0"/>
                    <a:pt x="29795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89915" cy="1293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65145" y="-1689219"/>
            <a:ext cx="8143755" cy="10437477"/>
            <a:chOff x="0" y="0"/>
            <a:chExt cx="2144857" cy="27489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4857" cy="2748965"/>
            </a:xfrm>
            <a:custGeom>
              <a:avLst/>
              <a:gdLst/>
              <a:ahLst/>
              <a:cxnLst/>
              <a:rect r="r" b="b" t="t" l="l"/>
              <a:pathLst>
                <a:path h="2748965" w="2144857">
                  <a:moveTo>
                    <a:pt x="30421" y="0"/>
                  </a:moveTo>
                  <a:lnTo>
                    <a:pt x="2114436" y="0"/>
                  </a:lnTo>
                  <a:cubicBezTo>
                    <a:pt x="2122504" y="0"/>
                    <a:pt x="2130242" y="3205"/>
                    <a:pt x="2135947" y="8910"/>
                  </a:cubicBezTo>
                  <a:cubicBezTo>
                    <a:pt x="2141652" y="14615"/>
                    <a:pt x="2144857" y="22353"/>
                    <a:pt x="2144857" y="30421"/>
                  </a:cubicBezTo>
                  <a:lnTo>
                    <a:pt x="2144857" y="2718544"/>
                  </a:lnTo>
                  <a:cubicBezTo>
                    <a:pt x="2144857" y="2726612"/>
                    <a:pt x="2141652" y="2734350"/>
                    <a:pt x="2135947" y="2740055"/>
                  </a:cubicBezTo>
                  <a:cubicBezTo>
                    <a:pt x="2130242" y="2745760"/>
                    <a:pt x="2122504" y="2748965"/>
                    <a:pt x="2114436" y="2748965"/>
                  </a:cubicBezTo>
                  <a:lnTo>
                    <a:pt x="30421" y="2748965"/>
                  </a:lnTo>
                  <a:cubicBezTo>
                    <a:pt x="22353" y="2748965"/>
                    <a:pt x="14615" y="2745760"/>
                    <a:pt x="8910" y="2740055"/>
                  </a:cubicBezTo>
                  <a:cubicBezTo>
                    <a:pt x="3205" y="2734350"/>
                    <a:pt x="0" y="2726612"/>
                    <a:pt x="0" y="2718544"/>
                  </a:cubicBezTo>
                  <a:lnTo>
                    <a:pt x="0" y="30421"/>
                  </a:lnTo>
                  <a:cubicBezTo>
                    <a:pt x="0" y="22353"/>
                    <a:pt x="3205" y="14615"/>
                    <a:pt x="8910" y="8910"/>
                  </a:cubicBezTo>
                  <a:cubicBezTo>
                    <a:pt x="14615" y="3205"/>
                    <a:pt x="22353" y="0"/>
                    <a:pt x="3042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44857" cy="2787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1738" y="4987676"/>
            <a:ext cx="7108904" cy="2902094"/>
            <a:chOff x="0" y="0"/>
            <a:chExt cx="1872304" cy="7643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72304" cy="764338"/>
            </a:xfrm>
            <a:custGeom>
              <a:avLst/>
              <a:gdLst/>
              <a:ahLst/>
              <a:cxnLst/>
              <a:rect r="r" b="b" t="t" l="l"/>
              <a:pathLst>
                <a:path h="764338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736022"/>
                  </a:lnTo>
                  <a:cubicBezTo>
                    <a:pt x="1872304" y="751660"/>
                    <a:pt x="1859627" y="764338"/>
                    <a:pt x="1843989" y="764338"/>
                  </a:cubicBezTo>
                  <a:lnTo>
                    <a:pt x="28315" y="764338"/>
                  </a:lnTo>
                  <a:cubicBezTo>
                    <a:pt x="12677" y="764338"/>
                    <a:pt x="0" y="751660"/>
                    <a:pt x="0" y="736022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72304" cy="80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02773" y="1077985"/>
            <a:ext cx="7108904" cy="2902094"/>
            <a:chOff x="0" y="0"/>
            <a:chExt cx="1872304" cy="7643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2304" cy="764338"/>
            </a:xfrm>
            <a:custGeom>
              <a:avLst/>
              <a:gdLst/>
              <a:ahLst/>
              <a:cxnLst/>
              <a:rect r="r" b="b" t="t" l="l"/>
              <a:pathLst>
                <a:path h="764338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736022"/>
                  </a:lnTo>
                  <a:cubicBezTo>
                    <a:pt x="1872304" y="751660"/>
                    <a:pt x="1859627" y="764338"/>
                    <a:pt x="1843989" y="764338"/>
                  </a:cubicBezTo>
                  <a:lnTo>
                    <a:pt x="28315" y="764338"/>
                  </a:lnTo>
                  <a:cubicBezTo>
                    <a:pt x="12677" y="764338"/>
                    <a:pt x="0" y="751660"/>
                    <a:pt x="0" y="736022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72304" cy="80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02773" y="5291322"/>
            <a:ext cx="7108904" cy="2902094"/>
            <a:chOff x="0" y="0"/>
            <a:chExt cx="1872304" cy="7643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72304" cy="764338"/>
            </a:xfrm>
            <a:custGeom>
              <a:avLst/>
              <a:gdLst/>
              <a:ahLst/>
              <a:cxnLst/>
              <a:rect r="r" b="b" t="t" l="l"/>
              <a:pathLst>
                <a:path h="764338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736022"/>
                  </a:lnTo>
                  <a:cubicBezTo>
                    <a:pt x="1872304" y="751660"/>
                    <a:pt x="1859627" y="764338"/>
                    <a:pt x="1843989" y="764338"/>
                  </a:cubicBezTo>
                  <a:lnTo>
                    <a:pt x="28315" y="764338"/>
                  </a:lnTo>
                  <a:cubicBezTo>
                    <a:pt x="12677" y="764338"/>
                    <a:pt x="0" y="751660"/>
                    <a:pt x="0" y="736022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872304" cy="802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139042" y="5574609"/>
            <a:ext cx="6068976" cy="23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BKT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(Ba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ne):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Guar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ees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nterp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etabi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erve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 “s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hor”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for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gging.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DKT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(S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Deep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aseli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tab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 a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dib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be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chm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 is fast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 ite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602535" y="1641832"/>
            <a:ext cx="6068976" cy="23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DKVMN (C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luabl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nst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 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ign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cause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re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als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wh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pts 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error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Tran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form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KT (Primary Pro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uct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on): Be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 trad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-off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of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ura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cy,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scalabi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ity, and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ong-cont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x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mode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 fo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our 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-sc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le logs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622738" y="6260409"/>
            <a:ext cx="6068976" cy="1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Hybrid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LM-KT (Inn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vativ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Cho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ce):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st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holde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d: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urat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ions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 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 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xp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lained in pl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l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ngu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765817" y="4602721"/>
            <a:ext cx="936092" cy="895361"/>
            <a:chOff x="0" y="0"/>
            <a:chExt cx="305396" cy="2921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76852" y="693030"/>
            <a:ext cx="936092" cy="895361"/>
            <a:chOff x="0" y="0"/>
            <a:chExt cx="305396" cy="2921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76852" y="4906367"/>
            <a:ext cx="936092" cy="895361"/>
            <a:chOff x="0" y="0"/>
            <a:chExt cx="305396" cy="2921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65817" y="4622445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76852" y="712754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76852" y="4926091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539" y="1267053"/>
            <a:ext cx="8014498" cy="874309"/>
          </a:xfrm>
          <a:custGeom>
            <a:avLst/>
            <a:gdLst/>
            <a:ahLst/>
            <a:cxnLst/>
            <a:rect r="r" b="b" t="t" l="l"/>
            <a:pathLst>
              <a:path h="874309" w="8014498">
                <a:moveTo>
                  <a:pt x="0" y="0"/>
                </a:moveTo>
                <a:lnTo>
                  <a:pt x="8014499" y="0"/>
                </a:lnTo>
                <a:lnTo>
                  <a:pt x="8014499" y="874309"/>
                </a:lnTo>
                <a:lnTo>
                  <a:pt x="0" y="874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3107383">
            <a:off x="-1604021" y="-2270324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5" y="0"/>
                </a:lnTo>
                <a:lnTo>
                  <a:pt x="4241005" y="4459948"/>
                </a:lnTo>
                <a:lnTo>
                  <a:pt x="0" y="445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302171">
            <a:off x="5033140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7" y="0"/>
                </a:lnTo>
                <a:lnTo>
                  <a:pt x="3696357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100841" y="1349757"/>
            <a:ext cx="9665986" cy="146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2"/>
              </a:lnSpc>
            </a:pPr>
            <a:r>
              <a:rPr lang="en-US" sz="5875" spc="-293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EVALUATION METHODS &amp; ERROR ANALYSIS</a:t>
            </a:r>
          </a:p>
        </p:txBody>
      </p:sp>
      <p:sp>
        <p:nvSpPr>
          <p:cNvPr name="Freeform 19" id="19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1016112" y="3980079"/>
            <a:ext cx="8314835" cy="5020990"/>
            <a:chOff x="0" y="0"/>
            <a:chExt cx="2189915" cy="13224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9915" cy="1322401"/>
            </a:xfrm>
            <a:custGeom>
              <a:avLst/>
              <a:gdLst/>
              <a:ahLst/>
              <a:cxnLst/>
              <a:rect r="r" b="b" t="t" l="l"/>
              <a:pathLst>
                <a:path h="1322401" w="2189915">
                  <a:moveTo>
                    <a:pt x="29795" y="0"/>
                  </a:moveTo>
                  <a:lnTo>
                    <a:pt x="2160120" y="0"/>
                  </a:lnTo>
                  <a:cubicBezTo>
                    <a:pt x="2168022" y="0"/>
                    <a:pt x="2175601" y="3139"/>
                    <a:pt x="2181189" y="8727"/>
                  </a:cubicBezTo>
                  <a:cubicBezTo>
                    <a:pt x="2186776" y="14314"/>
                    <a:pt x="2189915" y="21893"/>
                    <a:pt x="2189915" y="29795"/>
                  </a:cubicBezTo>
                  <a:lnTo>
                    <a:pt x="2189915" y="1292606"/>
                  </a:lnTo>
                  <a:cubicBezTo>
                    <a:pt x="2189915" y="1300508"/>
                    <a:pt x="2186776" y="1308086"/>
                    <a:pt x="2181189" y="1313674"/>
                  </a:cubicBezTo>
                  <a:cubicBezTo>
                    <a:pt x="2175601" y="1319262"/>
                    <a:pt x="2168022" y="1322401"/>
                    <a:pt x="2160120" y="1322401"/>
                  </a:cubicBezTo>
                  <a:lnTo>
                    <a:pt x="29795" y="1322401"/>
                  </a:lnTo>
                  <a:cubicBezTo>
                    <a:pt x="21893" y="1322401"/>
                    <a:pt x="14314" y="1319262"/>
                    <a:pt x="8727" y="1313674"/>
                  </a:cubicBezTo>
                  <a:cubicBezTo>
                    <a:pt x="3139" y="1308086"/>
                    <a:pt x="0" y="1300508"/>
                    <a:pt x="0" y="1292606"/>
                  </a:cubicBezTo>
                  <a:lnTo>
                    <a:pt x="0" y="29795"/>
                  </a:lnTo>
                  <a:cubicBezTo>
                    <a:pt x="0" y="21893"/>
                    <a:pt x="3139" y="14314"/>
                    <a:pt x="8727" y="8727"/>
                  </a:cubicBezTo>
                  <a:cubicBezTo>
                    <a:pt x="14314" y="3139"/>
                    <a:pt x="21893" y="0"/>
                    <a:pt x="29795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89915" cy="1360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65145" y="-1689219"/>
            <a:ext cx="8601592" cy="11909941"/>
            <a:chOff x="0" y="0"/>
            <a:chExt cx="2265440" cy="31367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5440" cy="3136775"/>
            </a:xfrm>
            <a:custGeom>
              <a:avLst/>
              <a:gdLst/>
              <a:ahLst/>
              <a:cxnLst/>
              <a:rect r="r" b="b" t="t" l="l"/>
              <a:pathLst>
                <a:path h="3136775" w="2265440">
                  <a:moveTo>
                    <a:pt x="28802" y="0"/>
                  </a:moveTo>
                  <a:lnTo>
                    <a:pt x="2236638" y="0"/>
                  </a:lnTo>
                  <a:cubicBezTo>
                    <a:pt x="2244277" y="0"/>
                    <a:pt x="2251602" y="3034"/>
                    <a:pt x="2257004" y="8436"/>
                  </a:cubicBezTo>
                  <a:cubicBezTo>
                    <a:pt x="2262405" y="13837"/>
                    <a:pt x="2265440" y="21163"/>
                    <a:pt x="2265440" y="28802"/>
                  </a:cubicBezTo>
                  <a:lnTo>
                    <a:pt x="2265440" y="3107973"/>
                  </a:lnTo>
                  <a:cubicBezTo>
                    <a:pt x="2265440" y="3123880"/>
                    <a:pt x="2252545" y="3136775"/>
                    <a:pt x="2236638" y="3136775"/>
                  </a:cubicBezTo>
                  <a:lnTo>
                    <a:pt x="28802" y="3136775"/>
                  </a:lnTo>
                  <a:cubicBezTo>
                    <a:pt x="12895" y="3136775"/>
                    <a:pt x="0" y="3123880"/>
                    <a:pt x="0" y="3107973"/>
                  </a:cubicBezTo>
                  <a:lnTo>
                    <a:pt x="0" y="28802"/>
                  </a:lnTo>
                  <a:cubicBezTo>
                    <a:pt x="0" y="12895"/>
                    <a:pt x="12895" y="0"/>
                    <a:pt x="2880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998178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65440" cy="317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91738" y="4987676"/>
            <a:ext cx="7108904" cy="3760582"/>
            <a:chOff x="0" y="0"/>
            <a:chExt cx="1872304" cy="9904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72304" cy="990441"/>
            </a:xfrm>
            <a:custGeom>
              <a:avLst/>
              <a:gdLst/>
              <a:ahLst/>
              <a:cxnLst/>
              <a:rect r="r" b="b" t="t" l="l"/>
              <a:pathLst>
                <a:path h="990441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962126"/>
                  </a:lnTo>
                  <a:cubicBezTo>
                    <a:pt x="1872304" y="977764"/>
                    <a:pt x="1859627" y="990441"/>
                    <a:pt x="1843989" y="990441"/>
                  </a:cubicBezTo>
                  <a:lnTo>
                    <a:pt x="28315" y="990441"/>
                  </a:lnTo>
                  <a:cubicBezTo>
                    <a:pt x="12677" y="990441"/>
                    <a:pt x="0" y="977764"/>
                    <a:pt x="0" y="962126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72304" cy="1028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82570" y="532155"/>
            <a:ext cx="7108904" cy="2344105"/>
            <a:chOff x="0" y="0"/>
            <a:chExt cx="1872304" cy="6173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72304" cy="617377"/>
            </a:xfrm>
            <a:custGeom>
              <a:avLst/>
              <a:gdLst/>
              <a:ahLst/>
              <a:cxnLst/>
              <a:rect r="r" b="b" t="t" l="l"/>
              <a:pathLst>
                <a:path h="617377" w="1872304">
                  <a:moveTo>
                    <a:pt x="28315" y="0"/>
                  </a:moveTo>
                  <a:lnTo>
                    <a:pt x="1843989" y="0"/>
                  </a:lnTo>
                  <a:cubicBezTo>
                    <a:pt x="1859627" y="0"/>
                    <a:pt x="1872304" y="12677"/>
                    <a:pt x="1872304" y="28315"/>
                  </a:cubicBezTo>
                  <a:lnTo>
                    <a:pt x="1872304" y="589062"/>
                  </a:lnTo>
                  <a:cubicBezTo>
                    <a:pt x="1872304" y="604700"/>
                    <a:pt x="1859627" y="617377"/>
                    <a:pt x="1843989" y="617377"/>
                  </a:cubicBezTo>
                  <a:lnTo>
                    <a:pt x="28315" y="617377"/>
                  </a:lnTo>
                  <a:cubicBezTo>
                    <a:pt x="12677" y="617377"/>
                    <a:pt x="0" y="604700"/>
                    <a:pt x="0" y="589062"/>
                  </a:cubicBezTo>
                  <a:lnTo>
                    <a:pt x="0" y="28315"/>
                  </a:lnTo>
                  <a:cubicBezTo>
                    <a:pt x="0" y="12677"/>
                    <a:pt x="12677" y="0"/>
                    <a:pt x="2831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872304" cy="655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24885" y="3113480"/>
            <a:ext cx="8441852" cy="7107242"/>
            <a:chOff x="0" y="0"/>
            <a:chExt cx="2223368" cy="18718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3368" cy="1871866"/>
            </a:xfrm>
            <a:custGeom>
              <a:avLst/>
              <a:gdLst/>
              <a:ahLst/>
              <a:cxnLst/>
              <a:rect r="r" b="b" t="t" l="l"/>
              <a:pathLst>
                <a:path h="1871866" w="2223368">
                  <a:moveTo>
                    <a:pt x="23844" y="0"/>
                  </a:moveTo>
                  <a:lnTo>
                    <a:pt x="2199524" y="0"/>
                  </a:lnTo>
                  <a:cubicBezTo>
                    <a:pt x="2212693" y="0"/>
                    <a:pt x="2223368" y="10675"/>
                    <a:pt x="2223368" y="23844"/>
                  </a:cubicBezTo>
                  <a:lnTo>
                    <a:pt x="2223368" y="1848022"/>
                  </a:lnTo>
                  <a:cubicBezTo>
                    <a:pt x="2223368" y="1854346"/>
                    <a:pt x="2220856" y="1860411"/>
                    <a:pt x="2216384" y="1864882"/>
                  </a:cubicBezTo>
                  <a:cubicBezTo>
                    <a:pt x="2211913" y="1869354"/>
                    <a:pt x="2205848" y="1871866"/>
                    <a:pt x="2199524" y="1871866"/>
                  </a:cubicBezTo>
                  <a:lnTo>
                    <a:pt x="23844" y="1871866"/>
                  </a:lnTo>
                  <a:cubicBezTo>
                    <a:pt x="17520" y="1871866"/>
                    <a:pt x="11456" y="1869354"/>
                    <a:pt x="6984" y="1864882"/>
                  </a:cubicBezTo>
                  <a:cubicBezTo>
                    <a:pt x="2512" y="1860411"/>
                    <a:pt x="0" y="1854346"/>
                    <a:pt x="0" y="1848022"/>
                  </a:cubicBezTo>
                  <a:lnTo>
                    <a:pt x="0" y="23844"/>
                  </a:lnTo>
                  <a:cubicBezTo>
                    <a:pt x="0" y="17520"/>
                    <a:pt x="2512" y="11456"/>
                    <a:pt x="6984" y="6984"/>
                  </a:cubicBezTo>
                  <a:cubicBezTo>
                    <a:pt x="11456" y="2512"/>
                    <a:pt x="17520" y="0"/>
                    <a:pt x="238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lgDash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223368" cy="1909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139042" y="5459982"/>
            <a:ext cx="6068976" cy="342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Accuracy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(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ACC)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Are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Und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 ROC Curv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(AUC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): Mea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res ranking quality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Log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ss: Pena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lize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over-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den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wrong answers.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Expe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Calibration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Error (ECE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): Measures probability reli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lity.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Latency (p95):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ecks f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produc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ffici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ncy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888683" y="607416"/>
            <a:ext cx="6068976" cy="23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Primary M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Chronological 80/10/10 use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r-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based split.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Rationale: This mimics rea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l-w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ld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use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(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even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temporal lea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k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ge)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and en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sur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es no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user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ata app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ars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b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o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th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tr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ain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and test se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s.</a:t>
            </a: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819233" y="3617825"/>
            <a:ext cx="8468767" cy="822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  <a:r>
              <a:rPr lang="en-US" b="true" sz="2000" spc="18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 P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erformance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iagnost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cs (All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els)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Confusion Matrix: Analyze the raw counts of True Positives, True Negatives, False Positives, and False Negatives.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ROC Curve: Visually inspect the trade-off between the true positive rate and false positive rate to assess overall discriminative power.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Calibration Plots (ECE): Check if model confidence aligns with accuracy.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2.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Explainability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(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Transformers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): Log and visualize attention weights to see what past interactions the model focused on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b="true" sz="2000" spc="18" strike="noStrike" u="none">
                <a:solidFill>
                  <a:srgbClr val="7B686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3. </a:t>
            </a:r>
            <a:r>
              <a:rPr lang="en-US" b="true" sz="2000" spc="18" strike="noStrike" u="none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Hybrid LLM-KT Deep Dive (Innovative Model)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Store Attention Maps: Similar to the SAKT model, we will analyze attention patterns.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Store Top-K Rationale Tokens: For the Hybrid LLM, we will capture the generated textual rationales (e.g., "Student struggles with recursive logic...") to see if its reasoning aligns with its prediction.</a:t>
            </a:r>
          </a:p>
          <a:p>
            <a:pPr algn="l" marL="431801" indent="-215900" lvl="1">
              <a:lnSpc>
                <a:spcPts val="272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18" strike="noStrike" u="none">
                <a:solidFill>
                  <a:srgbClr val="7B6861"/>
                </a:solidFill>
                <a:latin typeface="Quicksand"/>
                <a:ea typeface="Quicksand"/>
                <a:cs typeface="Quicksand"/>
                <a:sym typeface="Quicksand"/>
              </a:rPr>
              <a:t>Semantic Error Bucketing: Group errors by question content (e.g., "recursion," "pointers") vs. behavior (e.g., "high response time") to find the true source of student difficulty.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</a:p>
          <a:p>
            <a:pPr algn="l">
              <a:lnSpc>
                <a:spcPts val="2720"/>
              </a:lnSpc>
              <a:spcBef>
                <a:spcPct val="0"/>
              </a:spcBef>
            </a:pPr>
          </a:p>
          <a:p>
            <a:pPr algn="l">
              <a:lnSpc>
                <a:spcPts val="27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20"/>
              </a:lnSpc>
              <a:spcBef>
                <a:spcPct val="0"/>
              </a:spcBef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765817" y="4602721"/>
            <a:ext cx="936092" cy="895361"/>
            <a:chOff x="0" y="0"/>
            <a:chExt cx="305396" cy="2921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82225" y="300152"/>
            <a:ext cx="936092" cy="895361"/>
            <a:chOff x="0" y="0"/>
            <a:chExt cx="305396" cy="29210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5396" cy="292107"/>
            </a:xfrm>
            <a:custGeom>
              <a:avLst/>
              <a:gdLst/>
              <a:ahLst/>
              <a:cxnLst/>
              <a:rect r="r" b="b" t="t" l="l"/>
              <a:pathLst>
                <a:path h="292107" w="305396">
                  <a:moveTo>
                    <a:pt x="146054" y="0"/>
                  </a:moveTo>
                  <a:lnTo>
                    <a:pt x="159342" y="0"/>
                  </a:lnTo>
                  <a:cubicBezTo>
                    <a:pt x="240005" y="0"/>
                    <a:pt x="305396" y="65390"/>
                    <a:pt x="305396" y="146054"/>
                  </a:cubicBezTo>
                  <a:lnTo>
                    <a:pt x="305396" y="146054"/>
                  </a:lnTo>
                  <a:cubicBezTo>
                    <a:pt x="305396" y="226717"/>
                    <a:pt x="240005" y="292107"/>
                    <a:pt x="159342" y="292107"/>
                  </a:cubicBezTo>
                  <a:lnTo>
                    <a:pt x="146054" y="292107"/>
                  </a:lnTo>
                  <a:cubicBezTo>
                    <a:pt x="65390" y="292107"/>
                    <a:pt x="0" y="226717"/>
                    <a:pt x="0" y="146054"/>
                  </a:cubicBezTo>
                  <a:lnTo>
                    <a:pt x="0" y="146054"/>
                  </a:lnTo>
                  <a:cubicBezTo>
                    <a:pt x="0" y="65390"/>
                    <a:pt x="65390" y="0"/>
                    <a:pt x="1460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5396" cy="33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14524" y="2995953"/>
            <a:ext cx="748390" cy="780992"/>
            <a:chOff x="0" y="0"/>
            <a:chExt cx="244159" cy="2547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4159" cy="254795"/>
            </a:xfrm>
            <a:custGeom>
              <a:avLst/>
              <a:gdLst/>
              <a:ahLst/>
              <a:cxnLst/>
              <a:rect r="r" b="b" t="t" l="l"/>
              <a:pathLst>
                <a:path h="254795" w="244159">
                  <a:moveTo>
                    <a:pt x="122079" y="0"/>
                  </a:moveTo>
                  <a:lnTo>
                    <a:pt x="122079" y="0"/>
                  </a:lnTo>
                  <a:cubicBezTo>
                    <a:pt x="154457" y="0"/>
                    <a:pt x="185508" y="12862"/>
                    <a:pt x="208403" y="35756"/>
                  </a:cubicBezTo>
                  <a:cubicBezTo>
                    <a:pt x="231297" y="58651"/>
                    <a:pt x="244159" y="89702"/>
                    <a:pt x="244159" y="122079"/>
                  </a:cubicBezTo>
                  <a:lnTo>
                    <a:pt x="244159" y="132716"/>
                  </a:lnTo>
                  <a:cubicBezTo>
                    <a:pt x="244159" y="165093"/>
                    <a:pt x="231297" y="196144"/>
                    <a:pt x="208403" y="219039"/>
                  </a:cubicBezTo>
                  <a:cubicBezTo>
                    <a:pt x="185508" y="241933"/>
                    <a:pt x="154457" y="254795"/>
                    <a:pt x="122079" y="254795"/>
                  </a:cubicBezTo>
                  <a:lnTo>
                    <a:pt x="122079" y="254795"/>
                  </a:lnTo>
                  <a:cubicBezTo>
                    <a:pt x="89702" y="254795"/>
                    <a:pt x="58651" y="241933"/>
                    <a:pt x="35756" y="219039"/>
                  </a:cubicBezTo>
                  <a:cubicBezTo>
                    <a:pt x="12862" y="196144"/>
                    <a:pt x="0" y="165093"/>
                    <a:pt x="0" y="132716"/>
                  </a:cubicBezTo>
                  <a:lnTo>
                    <a:pt x="0" y="122079"/>
                  </a:lnTo>
                  <a:cubicBezTo>
                    <a:pt x="0" y="89702"/>
                    <a:pt x="12862" y="58651"/>
                    <a:pt x="35756" y="35756"/>
                  </a:cubicBezTo>
                  <a:cubicBezTo>
                    <a:pt x="58651" y="12862"/>
                    <a:pt x="89702" y="0"/>
                    <a:pt x="1220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BF9585"/>
              </a:solidFill>
              <a:prstDash val="dash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44159" cy="292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65817" y="4622445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82225" y="322429"/>
            <a:ext cx="936092" cy="75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b="true" sz="4378" spc="-91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14524" y="3037280"/>
            <a:ext cx="769005" cy="61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5"/>
              </a:lnSpc>
            </a:pPr>
            <a:r>
              <a:rPr lang="en-US" b="true" sz="3597" spc="-75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36271" y="4491077"/>
            <a:ext cx="17823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Key Metrics: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12557" y="56717"/>
            <a:ext cx="288562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Validation Strategy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12557" y="3240635"/>
            <a:ext cx="202659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7B6861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Error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35979" y="0"/>
            <a:ext cx="20559958" cy="10281313"/>
            <a:chOff x="0" y="0"/>
            <a:chExt cx="27413277" cy="1370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02541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52736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555277" y="0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702541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852736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555277" y="6850418"/>
              <a:ext cx="6858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600289" y="1976394"/>
            <a:ext cx="11087423" cy="525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15"/>
              </a:lnSpc>
            </a:pPr>
            <a:r>
              <a:rPr lang="en-US" sz="21293" spc="-1064">
                <a:solidFill>
                  <a:srgbClr val="FFFFFF"/>
                </a:solidFill>
                <a:latin typeface="210 클레이토이"/>
                <a:ea typeface="210 클레이토이"/>
                <a:cs typeface="210 클레이토이"/>
                <a:sym typeface="210 클레이토이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702205" y="7232442"/>
            <a:ext cx="8775832" cy="957363"/>
          </a:xfrm>
          <a:custGeom>
            <a:avLst/>
            <a:gdLst/>
            <a:ahLst/>
            <a:cxnLst/>
            <a:rect r="r" b="b" t="t" l="l"/>
            <a:pathLst>
              <a:path h="957363" w="8775832">
                <a:moveTo>
                  <a:pt x="0" y="0"/>
                </a:moveTo>
                <a:lnTo>
                  <a:pt x="8775831" y="0"/>
                </a:lnTo>
                <a:lnTo>
                  <a:pt x="8775831" y="957364"/>
                </a:lnTo>
                <a:lnTo>
                  <a:pt x="0" y="9573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54705" y="-3005176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781020">
            <a:off x="-2088296" y="6989497"/>
            <a:ext cx="5976433" cy="6010352"/>
          </a:xfrm>
          <a:custGeom>
            <a:avLst/>
            <a:gdLst/>
            <a:ahLst/>
            <a:cxnLst/>
            <a:rect r="r" b="b" t="t" l="l"/>
            <a:pathLst>
              <a:path h="6010352" w="5976433">
                <a:moveTo>
                  <a:pt x="0" y="0"/>
                </a:moveTo>
                <a:lnTo>
                  <a:pt x="5976433" y="0"/>
                </a:lnTo>
                <a:lnTo>
                  <a:pt x="5976433" y="6010352"/>
                </a:lnTo>
                <a:lnTo>
                  <a:pt x="0" y="60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3988127">
            <a:off x="-510612" y="6528886"/>
            <a:ext cx="4204700" cy="4438743"/>
          </a:xfrm>
          <a:custGeom>
            <a:avLst/>
            <a:gdLst/>
            <a:ahLst/>
            <a:cxnLst/>
            <a:rect r="r" b="b" t="t" l="l"/>
            <a:pathLst>
              <a:path h="4438743" w="4204700">
                <a:moveTo>
                  <a:pt x="0" y="4438744"/>
                </a:moveTo>
                <a:lnTo>
                  <a:pt x="4204700" y="4438744"/>
                </a:lnTo>
                <a:lnTo>
                  <a:pt x="4204700" y="0"/>
                </a:lnTo>
                <a:lnTo>
                  <a:pt x="0" y="0"/>
                </a:lnTo>
                <a:lnTo>
                  <a:pt x="0" y="44387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31297">
            <a:off x="15003259" y="6920690"/>
            <a:ext cx="4416838" cy="3862726"/>
          </a:xfrm>
          <a:custGeom>
            <a:avLst/>
            <a:gdLst/>
            <a:ahLst/>
            <a:cxnLst/>
            <a:rect r="r" b="b" t="t" l="l"/>
            <a:pathLst>
              <a:path h="3862726" w="4416838">
                <a:moveTo>
                  <a:pt x="0" y="0"/>
                </a:moveTo>
                <a:lnTo>
                  <a:pt x="4416838" y="0"/>
                </a:lnTo>
                <a:lnTo>
                  <a:pt x="4416838" y="3862725"/>
                </a:lnTo>
                <a:lnTo>
                  <a:pt x="0" y="386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592936" y="7369576"/>
            <a:ext cx="6990572" cy="717421"/>
            <a:chOff x="0" y="0"/>
            <a:chExt cx="1841138" cy="188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41138" cy="188950"/>
            </a:xfrm>
            <a:custGeom>
              <a:avLst/>
              <a:gdLst/>
              <a:ahLst/>
              <a:cxnLst/>
              <a:rect r="r" b="b" t="t" l="l"/>
              <a:pathLst>
                <a:path h="188950" w="1841138">
                  <a:moveTo>
                    <a:pt x="56481" y="0"/>
                  </a:moveTo>
                  <a:lnTo>
                    <a:pt x="1784657" y="0"/>
                  </a:lnTo>
                  <a:cubicBezTo>
                    <a:pt x="1799637" y="0"/>
                    <a:pt x="1814003" y="5951"/>
                    <a:pt x="1824595" y="16543"/>
                  </a:cubicBezTo>
                  <a:cubicBezTo>
                    <a:pt x="1835188" y="27135"/>
                    <a:pt x="1841138" y="41502"/>
                    <a:pt x="1841138" y="56481"/>
                  </a:cubicBezTo>
                  <a:lnTo>
                    <a:pt x="1841138" y="132469"/>
                  </a:lnTo>
                  <a:cubicBezTo>
                    <a:pt x="1841138" y="163663"/>
                    <a:pt x="1815851" y="188950"/>
                    <a:pt x="1784657" y="188950"/>
                  </a:cubicBezTo>
                  <a:lnTo>
                    <a:pt x="56481" y="188950"/>
                  </a:lnTo>
                  <a:cubicBezTo>
                    <a:pt x="41502" y="188950"/>
                    <a:pt x="27135" y="183000"/>
                    <a:pt x="16543" y="172407"/>
                  </a:cubicBezTo>
                  <a:cubicBezTo>
                    <a:pt x="5951" y="161815"/>
                    <a:pt x="0" y="147449"/>
                    <a:pt x="0" y="132469"/>
                  </a:cubicBezTo>
                  <a:lnTo>
                    <a:pt x="0" y="56481"/>
                  </a:lnTo>
                  <a:cubicBezTo>
                    <a:pt x="0" y="41502"/>
                    <a:pt x="5951" y="27135"/>
                    <a:pt x="16543" y="16543"/>
                  </a:cubicBezTo>
                  <a:cubicBezTo>
                    <a:pt x="27135" y="5951"/>
                    <a:pt x="41502" y="0"/>
                    <a:pt x="56481" y="0"/>
                  </a:cubicBezTo>
                  <a:close/>
                </a:path>
              </a:pathLst>
            </a:custGeom>
            <a:solidFill>
              <a:srgbClr val="BF958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41138" cy="22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84346">
            <a:off x="14375501" y="-185488"/>
            <a:ext cx="4149033" cy="3779392"/>
          </a:xfrm>
          <a:custGeom>
            <a:avLst/>
            <a:gdLst/>
            <a:ahLst/>
            <a:cxnLst/>
            <a:rect r="r" b="b" t="t" l="l"/>
            <a:pathLst>
              <a:path h="3779392" w="4149033">
                <a:moveTo>
                  <a:pt x="0" y="0"/>
                </a:moveTo>
                <a:lnTo>
                  <a:pt x="4149033" y="0"/>
                </a:lnTo>
                <a:lnTo>
                  <a:pt x="4149033" y="3779391"/>
                </a:lnTo>
                <a:lnTo>
                  <a:pt x="0" y="37793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302171">
            <a:off x="6208123" y="-1475183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0" y="0"/>
                </a:moveTo>
                <a:lnTo>
                  <a:pt x="3696358" y="0"/>
                </a:lnTo>
                <a:lnTo>
                  <a:pt x="3696358" y="2950366"/>
                </a:lnTo>
                <a:lnTo>
                  <a:pt x="0" y="2950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-1552060">
            <a:off x="8514736" y="8745540"/>
            <a:ext cx="3696358" cy="2950366"/>
          </a:xfrm>
          <a:custGeom>
            <a:avLst/>
            <a:gdLst/>
            <a:ahLst/>
            <a:cxnLst/>
            <a:rect r="r" b="b" t="t" l="l"/>
            <a:pathLst>
              <a:path h="2950366" w="3696358">
                <a:moveTo>
                  <a:pt x="3696358" y="2950365"/>
                </a:moveTo>
                <a:lnTo>
                  <a:pt x="0" y="2950365"/>
                </a:lnTo>
                <a:lnTo>
                  <a:pt x="0" y="0"/>
                </a:lnTo>
                <a:lnTo>
                  <a:pt x="3696358" y="0"/>
                </a:lnTo>
                <a:lnTo>
                  <a:pt x="3696358" y="295036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439123" y="7340437"/>
            <a:ext cx="7409753" cy="57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3"/>
              </a:lnSpc>
            </a:pPr>
            <a:r>
              <a:rPr lang="en-US" sz="335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Presented by : Team 2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3107383">
            <a:off x="-528765" y="-961946"/>
            <a:ext cx="4241006" cy="4459949"/>
          </a:xfrm>
          <a:custGeom>
            <a:avLst/>
            <a:gdLst/>
            <a:ahLst/>
            <a:cxnLst/>
            <a:rect r="r" b="b" t="t" l="l"/>
            <a:pathLst>
              <a:path h="4459949" w="4241006">
                <a:moveTo>
                  <a:pt x="0" y="0"/>
                </a:moveTo>
                <a:lnTo>
                  <a:pt x="4241006" y="0"/>
                </a:lnTo>
                <a:lnTo>
                  <a:pt x="4241006" y="4459949"/>
                </a:lnTo>
                <a:lnTo>
                  <a:pt x="0" y="4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DAG36D17_mg</dc:identifier>
  <dcterms:modified xsi:type="dcterms:W3CDTF">2011-08-01T06:04:30Z</dcterms:modified>
  <cp:revision>1</cp:revision>
  <dc:title>Prof_PPT</dc:title>
</cp:coreProperties>
</file>